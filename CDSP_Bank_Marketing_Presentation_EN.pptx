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8C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</c:v>
                  </c:pt>
                  <c:pt idx="1">
                    <c:v>Yes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36548</c:v>
                </c:pt>
                <c:pt idx="1">
                  <c:v>4640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2D39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ROC-AUC</c:v>
                </c:pt>
              </c:strCache>
            </c:strRef>
          </c:tx>
          <c:spPr>
            <a:solidFill>
              <a:srgbClr val="57D8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Logistic Regression</c:v>
                  </c:pt>
                  <c:pt idx="2">
                    <c:v>Decision Tree</c:v>
                  </c:pt>
                  <c:pt idx="3">
                    <c:v>Dummy Baseline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0.7952</c:v>
                </c:pt>
                <c:pt idx="1">
                  <c:v>0.7896</c:v>
                </c:pt>
                <c:pt idx="2">
                  <c:v>0.7765</c:v>
                </c:pt>
                <c:pt idx="3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 F1</c:v>
                </c:pt>
              </c:strCache>
            </c:strRef>
          </c:tx>
          <c:spPr>
            <a:solidFill>
              <a:srgbClr val="8C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Logistic Regression</c:v>
                  </c:pt>
                  <c:pt idx="2">
                    <c:v>Decision Tree</c:v>
                  </c:pt>
                  <c:pt idx="3">
                    <c:v>Dummy Baseline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0.4799</c:v>
                </c:pt>
                <c:pt idx="1">
                  <c:v>0.4479</c:v>
                </c:pt>
                <c:pt idx="2">
                  <c:v>0.4406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3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2D39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Metrics</c:v>
                </c:pt>
              </c:strCache>
            </c:strRef>
          </c:tx>
          <c:spPr>
            <a:solidFill>
              <a:srgbClr val="57D8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0.8596</c:v>
                </c:pt>
                <c:pt idx="1">
                  <c:v>0.4192</c:v>
                </c:pt>
                <c:pt idx="2">
                  <c:v>0.6401</c:v>
                </c:pt>
                <c:pt idx="3">
                  <c:v>0.5066</c:v>
                </c:pt>
                <c:pt idx="4">
                  <c:v>0.8147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2D39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13232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57D8BE">
              <a:alpha val="16000"/>
            </a:srgbClr>
          </a:solidFill>
          <a:ln w="10795">
            <a:solidFill>
              <a:srgbClr val="57D8BE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6968" y="768096"/>
            <a:ext cx="17465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</a:t>
            </a:r>
            <a:endParaRPr lang="en-US" sz="810" dirty="0"/>
          </a:p>
        </p:txBody>
      </p:sp>
      <p:sp>
        <p:nvSpPr>
          <p:cNvPr id="4" name="Text 2"/>
          <p:cNvSpPr/>
          <p:nvPr/>
        </p:nvSpPr>
        <p:spPr>
          <a:xfrm>
            <a:off x="786384" y="1225296"/>
            <a:ext cx="713232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 Term Deposit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Subscription Prediction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04672" y="265176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Machine Learning and Streamlit dashboard project that turns bank marketing data into customer-prioritization insights.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777240" y="3822192"/>
            <a:ext cx="2331720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7532" y="3986784"/>
            <a:ext cx="36576" cy="768096"/>
          </a:xfrm>
          <a:prstGeom prst="rect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3977640"/>
            <a:ext cx="20208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SIZE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941832" y="4197096"/>
            <a:ext cx="20208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41,188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41832" y="4626864"/>
            <a:ext cx="202082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campaign records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3355848" y="3822192"/>
            <a:ext cx="2331720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6140" y="3986784"/>
            <a:ext cx="36576" cy="768096"/>
          </a:xfrm>
          <a:prstGeom prst="rect">
            <a:avLst/>
          </a:prstGeom>
          <a:solidFill>
            <a:srgbClr val="8C7CFF"/>
          </a:solidFill>
          <a:ln w="12700">
            <a:solidFill>
              <a:srgbClr val="8C7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977640"/>
            <a:ext cx="20208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VARIABLES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3520440" y="4197096"/>
            <a:ext cx="20208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0440" y="4626864"/>
            <a:ext cx="202082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one target column</a:t>
            </a:r>
            <a:endParaRPr lang="en-US" sz="790" dirty="0"/>
          </a:p>
        </p:txBody>
      </p:sp>
      <p:sp>
        <p:nvSpPr>
          <p:cNvPr id="16" name="Shape 14"/>
          <p:cNvSpPr/>
          <p:nvPr/>
        </p:nvSpPr>
        <p:spPr>
          <a:xfrm>
            <a:off x="5934456" y="3822192"/>
            <a:ext cx="2331720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4748" y="3986784"/>
            <a:ext cx="36576" cy="768096"/>
          </a:xfrm>
          <a:prstGeom prst="rect">
            <a:avLst/>
          </a:prstGeom>
          <a:solidFill>
            <a:srgbClr val="F8C76B"/>
          </a:solidFill>
          <a:ln w="12700">
            <a:solidFill>
              <a:srgbClr val="F8C76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3977640"/>
            <a:ext cx="20208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TYPE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6099048" y="4197096"/>
            <a:ext cx="20208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99048" y="4626864"/>
            <a:ext cx="202082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subscription: yes / no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8513064" y="3822192"/>
            <a:ext cx="2331720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63356" y="3986784"/>
            <a:ext cx="36576" cy="768096"/>
          </a:xfrm>
          <a:prstGeom prst="rect">
            <a:avLst/>
          </a:prstGeom>
          <a:solidFill>
            <a:srgbClr val="FF7B93"/>
          </a:solidFill>
          <a:ln w="12700">
            <a:solidFill>
              <a:srgbClr val="FF7B9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77656" y="3977640"/>
            <a:ext cx="20208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8677656" y="4197096"/>
            <a:ext cx="20208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Streamlit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77656" y="4626864"/>
            <a:ext cx="202082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</a:t>
            </a:r>
            <a:endParaRPr lang="en-US" sz="790" dirty="0"/>
          </a:p>
        </p:txBody>
      </p:sp>
      <p:sp>
        <p:nvSpPr>
          <p:cNvPr id="26" name="Text 24"/>
          <p:cNvSpPr/>
          <p:nvPr/>
        </p:nvSpPr>
        <p:spPr>
          <a:xfrm>
            <a:off x="804672" y="57424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by: Lamia Farouk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6016752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Epsilon Academy · CDSP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85800" y="6364224"/>
            <a:ext cx="10835640" cy="0"/>
          </a:xfrm>
          <a:prstGeom prst="line">
            <a:avLst/>
          </a:prstGeom>
          <a:noFill/>
          <a:ln w="9525">
            <a:solidFill>
              <a:srgbClr val="2836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 · Bank Marketing ML Dashboard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083564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0175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Business Problem &amp; Project Value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41080" y="576072"/>
            <a:ext cx="2743200" cy="0"/>
          </a:xfrm>
          <a:prstGeom prst="line">
            <a:avLst/>
          </a:prstGeom>
          <a:noFill/>
          <a:ln w="38100">
            <a:solidFill>
              <a:srgbClr val="57D8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04672"/>
            <a:ext cx="10012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marketing challenge to a data-driven decision-support tool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111A2E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82496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B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2112264"/>
            <a:ext cx="2788920" cy="0"/>
          </a:xfrm>
          <a:prstGeom prst="line">
            <a:avLst/>
          </a:prstGeom>
          <a:noFill/>
          <a:ln w="25400">
            <a:solidFill>
              <a:srgbClr val="FF7B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2514600"/>
            <a:ext cx="50292" cy="50292"/>
          </a:xfrm>
          <a:prstGeom prst="ellipse">
            <a:avLst/>
          </a:prstGeom>
          <a:solidFill>
            <a:srgbClr val="FF7B93"/>
          </a:solidFill>
          <a:ln w="12700">
            <a:solidFill>
              <a:srgbClr val="FF7B9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2395728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bank contacts many customers during campaigns.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33272" y="3118104"/>
            <a:ext cx="50292" cy="50292"/>
          </a:xfrm>
          <a:prstGeom prst="ellipse">
            <a:avLst/>
          </a:prstGeom>
          <a:solidFill>
            <a:srgbClr val="FF7B93"/>
          </a:solidFill>
          <a:ln w="12700">
            <a:solidFill>
              <a:srgbClr val="FF7B9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2999232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Outreach effort is expensive and time-limited.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33272" y="3721608"/>
            <a:ext cx="50292" cy="50292"/>
          </a:xfrm>
          <a:prstGeom prst="ellipse">
            <a:avLst/>
          </a:prstGeom>
          <a:solidFill>
            <a:srgbClr val="FF7B93"/>
          </a:solidFill>
          <a:ln w="12700">
            <a:solidFill>
              <a:srgbClr val="FF7B9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9576" y="3602736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needs a clear lead-priority signal.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5968" y="141732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111A2E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44568" y="1682496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7D8B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Solution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44568" y="2112264"/>
            <a:ext cx="2788920" cy="0"/>
          </a:xfrm>
          <a:prstGeom prst="line">
            <a:avLst/>
          </a:prstGeom>
          <a:noFill/>
          <a:ln w="25400">
            <a:solidFill>
              <a:srgbClr val="57D8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514600"/>
            <a:ext cx="50292" cy="50292"/>
          </a:xfrm>
          <a:prstGeom prst="ellipse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395728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whether a customer will subscribe.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3118104"/>
            <a:ext cx="50292" cy="50292"/>
          </a:xfrm>
          <a:prstGeom prst="ellipse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999232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probability score per customer.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3721608"/>
            <a:ext cx="50292" cy="50292"/>
          </a:xfrm>
          <a:prstGeom prst="ellipse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3602736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the score into High / Medium / Low priority.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45552" y="141732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111A2E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74152" y="1682496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C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Value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74152" y="2112264"/>
            <a:ext cx="2788920" cy="0"/>
          </a:xfrm>
          <a:prstGeom prst="line">
            <a:avLst/>
          </a:prstGeom>
          <a:noFill/>
          <a:ln w="25400">
            <a:solidFill>
              <a:srgbClr val="F8C7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2514600"/>
            <a:ext cx="50292" cy="50292"/>
          </a:xfrm>
          <a:prstGeom prst="ellipse">
            <a:avLst/>
          </a:prstGeom>
          <a:solidFill>
            <a:srgbClr val="F8C76B"/>
          </a:solidFill>
          <a:ln w="12700">
            <a:solidFill>
              <a:srgbClr val="F8C76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2395728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calls on higher-probability customers.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01584" y="3118104"/>
            <a:ext cx="50292" cy="50292"/>
          </a:xfrm>
          <a:prstGeom prst="ellipse">
            <a:avLst/>
          </a:prstGeom>
          <a:solidFill>
            <a:srgbClr val="F8C76B"/>
          </a:solidFill>
          <a:ln w="12700">
            <a:solidFill>
              <a:srgbClr val="F8C76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2999232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low-value outreach.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1584" y="3721608"/>
            <a:ext cx="50292" cy="50292"/>
          </a:xfrm>
          <a:prstGeom prst="ellipse">
            <a:avLst/>
          </a:prstGeom>
          <a:solidFill>
            <a:srgbClr val="F8C76B"/>
          </a:solidFill>
          <a:ln w="12700">
            <a:solidFill>
              <a:srgbClr val="F8C76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3602736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patterns through an interactive dashboard.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60120" y="5230368"/>
            <a:ext cx="10287000" cy="621792"/>
          </a:xfrm>
          <a:prstGeom prst="roundRect">
            <a:avLst>
              <a:gd name="adj" fmla="val 11765"/>
            </a:avLst>
          </a:prstGeom>
          <a:solidFill>
            <a:srgbClr val="111A2E"/>
          </a:solidFill>
          <a:ln w="10795">
            <a:solidFill>
              <a:srgbClr val="57D8BE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161288" y="5394960"/>
            <a:ext cx="9884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1161288" y="5733288"/>
            <a:ext cx="9884664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maximize accuracy. The goal is to help the marketing team rank customers by subscription likelihood.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" y="6364224"/>
            <a:ext cx="10835640" cy="0"/>
          </a:xfrm>
          <a:prstGeom prst="line">
            <a:avLst/>
          </a:prstGeom>
          <a:noFill/>
          <a:ln w="9525">
            <a:solidFill>
              <a:srgbClr val="2836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 · Bank Marketing ML Dashboard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1083564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0175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Dataset Overview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41080" y="576072"/>
            <a:ext cx="2743200" cy="0"/>
          </a:xfrm>
          <a:prstGeom prst="line">
            <a:avLst/>
          </a:prstGeom>
          <a:noFill/>
          <a:ln w="38100">
            <a:solidFill>
              <a:srgbClr val="57D8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04672"/>
            <a:ext cx="10012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bank-additional-full.csv: customer profile, campaign history, and economic indicators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2103120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7532" y="1399032"/>
            <a:ext cx="36576" cy="768096"/>
          </a:xfrm>
          <a:prstGeom prst="rect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389888"/>
            <a:ext cx="17922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41832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41,188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1832" y="2039112"/>
            <a:ext cx="179222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observations</a:t>
            </a:r>
            <a:endParaRPr lang="en-US" sz="790" dirty="0"/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103120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4972" y="1399032"/>
            <a:ext cx="36576" cy="768096"/>
          </a:xfrm>
          <a:prstGeom prst="rect">
            <a:avLst/>
          </a:prstGeom>
          <a:solidFill>
            <a:srgbClr val="8C7CFF"/>
          </a:solidFill>
          <a:ln w="12700">
            <a:solidFill>
              <a:srgbClr val="8C7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389888"/>
            <a:ext cx="17922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3319272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19272" y="2039112"/>
            <a:ext cx="179222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inputs + target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5532120" y="1234440"/>
            <a:ext cx="2103120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82412" y="1399032"/>
            <a:ext cx="36576" cy="768096"/>
          </a:xfrm>
          <a:prstGeom prst="rect">
            <a:avLst/>
          </a:prstGeom>
          <a:solidFill>
            <a:srgbClr val="F8C76B"/>
          </a:solidFill>
          <a:ln w="12700">
            <a:solidFill>
              <a:srgbClr val="F8C7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96712" y="1389888"/>
            <a:ext cx="17922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5696712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96712" y="2039112"/>
            <a:ext cx="179222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 / no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7909560" y="1234440"/>
            <a:ext cx="2103120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9852" y="1399032"/>
            <a:ext cx="36576" cy="768096"/>
          </a:xfrm>
          <a:prstGeom prst="rect">
            <a:avLst/>
          </a:prstGeom>
          <a:solidFill>
            <a:srgbClr val="FF7B93"/>
          </a:solidFill>
          <a:ln w="12700">
            <a:solidFill>
              <a:srgbClr val="FF7B9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1389888"/>
            <a:ext cx="17922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8074152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074152" y="2039112"/>
            <a:ext cx="179222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outcome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10287000" y="1234440"/>
            <a:ext cx="1554480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37292" y="1399032"/>
            <a:ext cx="36576" cy="768096"/>
          </a:xfrm>
          <a:prstGeom prst="rect">
            <a:avLst/>
          </a:prstGeom>
          <a:solidFill>
            <a:srgbClr val="67B9EA"/>
          </a:solidFill>
          <a:ln w="12700">
            <a:solidFill>
              <a:srgbClr val="67B9E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51592" y="1389888"/>
            <a:ext cx="12435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10451592" y="1609344"/>
            <a:ext cx="12435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UCI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451592" y="2039112"/>
            <a:ext cx="12435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Marketing dataset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868680" y="2880360"/>
            <a:ext cx="10442448" cy="393192"/>
          </a:xfrm>
          <a:prstGeom prst="roundRect">
            <a:avLst>
              <a:gd name="adj" fmla="val 18605"/>
            </a:avLst>
          </a:prstGeom>
          <a:solidFill>
            <a:srgbClr val="17233D"/>
          </a:solidFill>
          <a:ln w="10795">
            <a:solidFill>
              <a:srgbClr val="283650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2962656"/>
            <a:ext cx="2103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profile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83280" y="2962656"/>
            <a:ext cx="7635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job, marital status, education, default, housing loan, personal loan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868680" y="3438144"/>
            <a:ext cx="10442448" cy="393192"/>
          </a:xfrm>
          <a:prstGeom prst="roundRect">
            <a:avLst>
              <a:gd name="adj" fmla="val 18605"/>
            </a:avLst>
          </a:prstGeom>
          <a:solidFill>
            <a:srgbClr val="111A2E"/>
          </a:solidFill>
          <a:ln w="10795">
            <a:solidFill>
              <a:srgbClr val="283650">
                <a:alpha val="3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" y="3520440"/>
            <a:ext cx="2103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C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context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383280" y="3520440"/>
            <a:ext cx="7635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channel, month, day of week, campaign contacts, previous campaign outcome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868680" y="3995928"/>
            <a:ext cx="10442448" cy="393192"/>
          </a:xfrm>
          <a:prstGeom prst="roundRect">
            <a:avLst>
              <a:gd name="adj" fmla="val 18605"/>
            </a:avLst>
          </a:prstGeom>
          <a:solidFill>
            <a:srgbClr val="17233D"/>
          </a:solidFill>
          <a:ln w="10795">
            <a:solidFill>
              <a:srgbClr val="283650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9848" y="4078224"/>
            <a:ext cx="2103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8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indicators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383280" y="4078224"/>
            <a:ext cx="7635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employment variation rate, consumer price index, confidence index, euribor3m, employment level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868680" y="4553712"/>
            <a:ext cx="10442448" cy="393192"/>
          </a:xfrm>
          <a:prstGeom prst="roundRect">
            <a:avLst>
              <a:gd name="adj" fmla="val 18605"/>
            </a:avLst>
          </a:prstGeom>
          <a:solidFill>
            <a:srgbClr val="111A2E"/>
          </a:solidFill>
          <a:ln w="10795">
            <a:solidFill>
              <a:srgbClr val="283650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9848" y="4636008"/>
            <a:ext cx="2103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7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variable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383280" y="4636008"/>
            <a:ext cx="7635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whether the customer subscribed to a term deposit</a:t>
            </a:r>
            <a:endParaRPr lang="en-US" sz="1070" dirty="0"/>
          </a:p>
        </p:txBody>
      </p:sp>
      <p:sp>
        <p:nvSpPr>
          <p:cNvPr id="42" name="Text 40"/>
          <p:cNvSpPr/>
          <p:nvPr/>
        </p:nvSpPr>
        <p:spPr>
          <a:xfrm>
            <a:off x="914400" y="5422392"/>
            <a:ext cx="102412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dataset is strong: it exceeds the course row requirement, includes both numerical and categorical variables, and supports EDA, model comparison, interpretation, and deployment.</a:t>
            </a:r>
            <a:endParaRPr lang="en-US" sz="1260" dirty="0"/>
          </a:p>
        </p:txBody>
      </p:sp>
      <p:sp>
        <p:nvSpPr>
          <p:cNvPr id="43" name="Shape 41"/>
          <p:cNvSpPr/>
          <p:nvPr/>
        </p:nvSpPr>
        <p:spPr>
          <a:xfrm>
            <a:off x="685800" y="6364224"/>
            <a:ext cx="10835640" cy="0"/>
          </a:xfrm>
          <a:prstGeom prst="line">
            <a:avLst/>
          </a:prstGeom>
          <a:noFill/>
          <a:ln w="9525">
            <a:solidFill>
              <a:srgbClr val="2836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 · Bank Marketing ML Dashboard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083564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0175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Quality &amp; Leakage Control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41080" y="576072"/>
            <a:ext cx="2743200" cy="0"/>
          </a:xfrm>
          <a:prstGeom prst="line">
            <a:avLst/>
          </a:prstGeom>
          <a:noFill/>
          <a:ln w="38100">
            <a:solidFill>
              <a:srgbClr val="57D8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04672"/>
            <a:ext cx="10012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designed for realistic pre-call targeting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4956048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0795">
            <a:solidFill>
              <a:srgbClr val="57D8BE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9848" y="1490472"/>
            <a:ext cx="45537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069848" y="1828800"/>
            <a:ext cx="45537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missing values found in the dataset checks.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4956048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0795">
            <a:solidFill>
              <a:srgbClr val="8C7CFF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1490472"/>
            <a:ext cx="45537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C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rows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556248" y="1828800"/>
            <a:ext cx="45537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duplicate rows were kept because there is no customer ID proving they are technical errors.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560320"/>
            <a:ext cx="4956048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0795">
            <a:solidFill>
              <a:srgbClr val="F8C76B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9848" y="2724912"/>
            <a:ext cx="45537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8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imbalance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069848" y="3063240"/>
            <a:ext cx="45537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Subscribers are a minority class; accuracy alone can be misleading.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2560320"/>
            <a:ext cx="4956048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0795">
            <a:solidFill>
              <a:srgbClr val="FF7B93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2724912"/>
            <a:ext cx="45537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7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encoding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56248" y="3063240"/>
            <a:ext cx="45537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was mapped to y_num: no = 0, yes = 1.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7552" y="4251960"/>
            <a:ext cx="10195560" cy="1234440"/>
          </a:xfrm>
          <a:prstGeom prst="roundRect">
            <a:avLst>
              <a:gd name="adj" fmla="val 5926"/>
            </a:avLst>
          </a:prstGeom>
          <a:solidFill>
            <a:srgbClr val="17233D"/>
          </a:solidFill>
          <a:ln w="10795">
            <a:solidFill>
              <a:srgbClr val="FF7B93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25296" y="449884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7B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Critical design decision: exclude duration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25296" y="4882896"/>
            <a:ext cx="9509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 is known only after the call ends. If the goal is to rank customers before calling them, using duration would leak future information and create unrealistically optimistic performance.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85800" y="6364224"/>
            <a:ext cx="10835640" cy="0"/>
          </a:xfrm>
          <a:prstGeom prst="line">
            <a:avLst/>
          </a:prstGeom>
          <a:noFill/>
          <a:ln w="9525">
            <a:solidFill>
              <a:srgbClr val="2836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 · Bank Marketing ML Dashboard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083564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0175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Exploratory Data Analysis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41080" y="576072"/>
            <a:ext cx="2743200" cy="0"/>
          </a:xfrm>
          <a:prstGeom prst="line">
            <a:avLst/>
          </a:prstGeom>
          <a:noFill/>
          <a:ln w="38100">
            <a:solidFill>
              <a:srgbClr val="57D8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04672"/>
            <a:ext cx="10012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was used to understand patterns before training models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234440"/>
          <a:ext cx="39776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960120" y="3364992"/>
            <a:ext cx="2377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C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distribution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6012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positive class is much smaller, so model evaluation must go beyond accuracy.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0" y="1252728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11A2E"/>
          </a:solidFill>
          <a:ln w="10795">
            <a:solidFill>
              <a:srgbClr val="57D8BE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87568" y="1417320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channel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5687568" y="1755648"/>
            <a:ext cx="22037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 rates vary by communication channel.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366760" y="1252728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11A2E"/>
          </a:solidFill>
          <a:ln w="10795">
            <a:solidFill>
              <a:srgbClr val="F8C76B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67928" y="1417320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8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outcome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8567928" y="1755648"/>
            <a:ext cx="22037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campaign success appears predictive.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0" y="2487168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11A2E"/>
          </a:solidFill>
          <a:ln w="10795">
            <a:solidFill>
              <a:srgbClr val="8C7CFF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87568" y="2651760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C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timing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5687568" y="2990088"/>
            <a:ext cx="22037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Month-level rates should be interpreted with sample size.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66760" y="2487168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11A2E"/>
          </a:solidFill>
          <a:ln w="10795">
            <a:solidFill>
              <a:srgbClr val="67B9EA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567928" y="2651760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7B9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context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8567928" y="2990088"/>
            <a:ext cx="22037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indicators were important in the final model.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4400" y="4800600"/>
            <a:ext cx="10332720" cy="658368"/>
          </a:xfrm>
          <a:prstGeom prst="roundRect">
            <a:avLst>
              <a:gd name="adj" fmla="val 11111"/>
            </a:avLst>
          </a:prstGeom>
          <a:solidFill>
            <a:srgbClr val="111A2E"/>
          </a:solidFill>
          <a:ln w="10795">
            <a:solidFill>
              <a:srgbClr val="57D8BE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115568" y="4965192"/>
            <a:ext cx="9930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rule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1115568" y="5303520"/>
            <a:ext cx="993038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algn="l"/>
          </a:lstStyle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shows observed associations. It does not prove direct causation. Insights were used to understand the data and guide model discussion.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" y="6364224"/>
            <a:ext cx="10835640" cy="0"/>
          </a:xfrm>
          <a:prstGeom prst="line">
            <a:avLst/>
          </a:prstGeom>
          <a:noFill/>
          <a:ln w="9525">
            <a:solidFill>
              <a:srgbClr val="2836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 · Bank Marketing ML Dashboard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1083564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0175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Preprocessing Pipeline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41080" y="576072"/>
            <a:ext cx="2743200" cy="0"/>
          </a:xfrm>
          <a:prstGeom prst="line">
            <a:avLst/>
          </a:prstGeom>
          <a:noFill/>
          <a:ln w="38100">
            <a:solidFill>
              <a:srgbClr val="57D8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04672"/>
            <a:ext cx="10012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reusable workflow for training, testing, and deployment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7233D"/>
          </a:solidFill>
          <a:ln w="10795">
            <a:solidFill>
              <a:srgbClr val="67B9EA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810512"/>
            <a:ext cx="1554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67B9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data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850392" y="2130552"/>
            <a:ext cx="15544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customer, campaign, economic variables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2587752" y="1947672"/>
            <a:ext cx="310896" cy="301752"/>
          </a:xfrm>
          <a:prstGeom prst="chevron">
            <a:avLst/>
          </a:prstGeom>
          <a:solidFill>
            <a:srgbClr val="283650"/>
          </a:solidFill>
          <a:ln w="12700">
            <a:solidFill>
              <a:srgbClr val="28365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16002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7233D"/>
          </a:solidFill>
          <a:ln w="10795">
            <a:solidFill>
              <a:srgbClr val="8C7C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36392" y="1810512"/>
            <a:ext cx="1554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8C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ColumnTransformer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3136392" y="2130552"/>
            <a:ext cx="15544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numeric and categorical columns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873752" y="1947672"/>
            <a:ext cx="310896" cy="301752"/>
          </a:xfrm>
          <a:prstGeom prst="chevron">
            <a:avLst/>
          </a:prstGeom>
          <a:solidFill>
            <a:srgbClr val="283650"/>
          </a:solidFill>
          <a:ln w="12700">
            <a:solidFill>
              <a:srgbClr val="28365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85232" y="16002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7233D"/>
          </a:solidFill>
          <a:ln w="10795">
            <a:solidFill>
              <a:srgbClr val="57D8BE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22392" y="1810512"/>
            <a:ext cx="1554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pipeline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5422392" y="2130552"/>
            <a:ext cx="15544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imputer + StandardScaler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7159752" y="1947672"/>
            <a:ext cx="310896" cy="301752"/>
          </a:xfrm>
          <a:prstGeom prst="chevron">
            <a:avLst/>
          </a:prstGeom>
          <a:solidFill>
            <a:srgbClr val="283650"/>
          </a:solidFill>
          <a:ln w="12700">
            <a:solidFill>
              <a:srgbClr val="28365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71232" y="16002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7233D"/>
          </a:solidFill>
          <a:ln w="10795">
            <a:solidFill>
              <a:srgbClr val="F8C76B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08392" y="1810512"/>
            <a:ext cx="1554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8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Categorical pipeline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7708392" y="2130552"/>
            <a:ext cx="15544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most-frequent imputer + OneHotEncoder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9445752" y="1947672"/>
            <a:ext cx="310896" cy="301752"/>
          </a:xfrm>
          <a:prstGeom prst="chevron">
            <a:avLst/>
          </a:prstGeom>
          <a:solidFill>
            <a:srgbClr val="283650"/>
          </a:solidFill>
          <a:ln w="12700">
            <a:solidFill>
              <a:srgbClr val="28365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57232" y="16002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7233D"/>
          </a:solidFill>
          <a:ln w="10795">
            <a:solidFill>
              <a:srgbClr val="FF7B93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94392" y="1810512"/>
            <a:ext cx="1554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7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9994392" y="2130552"/>
            <a:ext cx="15544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classifier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68680" y="3794760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111A2E"/>
          </a:solidFill>
          <a:ln w="10795">
            <a:solidFill>
              <a:srgbClr val="8C7CFF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69848" y="3959352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C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One-Hot Encoding?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1069848" y="4297680"/>
            <a:ext cx="302666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such as job and education do not have a natural order, so One-Hot avoids fake numeric ranking.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53712" y="3794760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111A2E"/>
          </a:solidFill>
          <a:ln w="10795">
            <a:solidFill>
              <a:srgbClr val="57D8BE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3959352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Scaling?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4754880" y="4297680"/>
            <a:ext cx="302666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variables have different ranges. Scaling helps scale-sensitive models such as Logistic Regression.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794760"/>
            <a:ext cx="3063240" cy="1078992"/>
          </a:xfrm>
          <a:prstGeom prst="roundRect">
            <a:avLst>
              <a:gd name="adj" fmla="val 6780"/>
            </a:avLst>
          </a:prstGeom>
          <a:solidFill>
            <a:srgbClr val="111A2E"/>
          </a:solidFill>
          <a:ln w="10795">
            <a:solidFill>
              <a:srgbClr val="F8C76B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30768" y="3959352"/>
            <a:ext cx="2660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8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Pipeline?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8430768" y="4297680"/>
            <a:ext cx="266090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prevents inconsistent preprocessing and supports deployment through one saved object.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6364224"/>
            <a:ext cx="10835640" cy="0"/>
          </a:xfrm>
          <a:prstGeom prst="line">
            <a:avLst/>
          </a:prstGeom>
          <a:noFill/>
          <a:ln w="9525">
            <a:solidFill>
              <a:srgbClr val="2836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 · Bank Marketing ML Dashboard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083564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0175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Modeling Strategy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41080" y="576072"/>
            <a:ext cx="2743200" cy="0"/>
          </a:xfrm>
          <a:prstGeom prst="line">
            <a:avLst/>
          </a:prstGeom>
          <a:noFill/>
          <a:ln w="38100">
            <a:solidFill>
              <a:srgbClr val="57D8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04672"/>
            <a:ext cx="10012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models were compared instead of assuming one model is best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11A2E"/>
          </a:solidFill>
          <a:ln w="10795">
            <a:solidFill>
              <a:srgbClr val="A6B2CD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371600"/>
            <a:ext cx="2057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Dummy Baseline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46120" y="1371600"/>
            <a:ext cx="2331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Sanity check: performance without real learning.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868680" y="2167128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11A2E"/>
          </a:solidFill>
          <a:ln w="10795">
            <a:solidFill>
              <a:srgbClr val="67B9EA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304288"/>
            <a:ext cx="2057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7B9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46120" y="2304288"/>
            <a:ext cx="2331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Simple, fast, interpretable linear baseline.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868680" y="3099816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11A2E"/>
          </a:solidFill>
          <a:ln w="10795">
            <a:solidFill>
              <a:srgbClr val="F8C76B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236976"/>
            <a:ext cx="2057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46120" y="3236976"/>
            <a:ext cx="2331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model, easy to explain but can overfit.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68680" y="4032504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11A2E"/>
          </a:solidFill>
          <a:ln w="10795">
            <a:solidFill>
              <a:srgbClr val="57D8BE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169664"/>
            <a:ext cx="2057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46120" y="4169664"/>
            <a:ext cx="2331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of trees; stronger and more stable.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400800" y="1353312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10795">
            <a:solidFill>
              <a:srgbClr val="8C7CFF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01968" y="1517904"/>
            <a:ext cx="4078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C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method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601968" y="1856232"/>
            <a:ext cx="40782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Five-fold Stratified Cross-Validation was used to estimate model performance while preserving the yes/no ratio in each fold.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816352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10795">
            <a:solidFill>
              <a:srgbClr val="57D8BE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01968" y="2980944"/>
            <a:ext cx="4078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model-selection metric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601968" y="3319272"/>
            <a:ext cx="40782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 was prioritized because the business can use probabilities to rank customers from highest to lowest likelihood.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279392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10795">
            <a:solidFill>
              <a:srgbClr val="F8C76B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01968" y="4443984"/>
            <a:ext cx="4078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8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concern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601968" y="4782312"/>
            <a:ext cx="40782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 and Recall matter because the subscriber class is smaller and should not be ignored.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6364224"/>
            <a:ext cx="10835640" cy="0"/>
          </a:xfrm>
          <a:prstGeom prst="line">
            <a:avLst/>
          </a:prstGeom>
          <a:noFill/>
          <a:ln w="9525">
            <a:solidFill>
              <a:srgbClr val="2836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 · Bank Marketing ML Dashboard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1083564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0175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Cross-Validation Model Comparison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41080" y="576072"/>
            <a:ext cx="2743200" cy="0"/>
          </a:xfrm>
          <a:prstGeom prst="line">
            <a:avLst/>
          </a:prstGeom>
          <a:noFill/>
          <a:ln w="38100">
            <a:solidFill>
              <a:srgbClr val="57D8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04672"/>
            <a:ext cx="10012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produced the strongest balance among real models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261872"/>
          <a:ext cx="61722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417320"/>
            <a:ext cx="3840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— AUC 0.795 · F1 0.480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0" y="2029968"/>
            <a:ext cx="3840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7B9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— AUC 0.790 · F1 0.448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0" y="2642616"/>
            <a:ext cx="3840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— AUC 0.777 · F1 0.441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0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7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Dummy Baseline — Accuracy is high, but F1 = 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69480" y="4160520"/>
            <a:ext cx="4069080" cy="841248"/>
          </a:xfrm>
          <a:prstGeom prst="roundRect">
            <a:avLst>
              <a:gd name="adj" fmla="val 8696"/>
            </a:avLst>
          </a:prstGeom>
          <a:solidFill>
            <a:srgbClr val="111A2E"/>
          </a:solidFill>
          <a:ln w="10795">
            <a:solidFill>
              <a:srgbClr val="FF7B93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70648" y="4325112"/>
            <a:ext cx="3666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7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the Dummy Baseline?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7470648" y="4663440"/>
            <a:ext cx="36667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predicts only the majority class. It achieves high accuracy because most customers did not subscribe, but it fails to identify subscribers.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" y="6364224"/>
            <a:ext cx="10835640" cy="0"/>
          </a:xfrm>
          <a:prstGeom prst="line">
            <a:avLst/>
          </a:prstGeom>
          <a:noFill/>
          <a:ln w="9525">
            <a:solidFill>
              <a:srgbClr val="2836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 · Bank Marketing ML Dashboard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1083564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0175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Final Test-Set Results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41080" y="576072"/>
            <a:ext cx="2743200" cy="0"/>
          </a:xfrm>
          <a:prstGeom prst="line">
            <a:avLst/>
          </a:prstGeom>
          <a:noFill/>
          <a:ln w="38100">
            <a:solidFill>
              <a:srgbClr val="57D8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04672"/>
            <a:ext cx="10012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evaluated on unseen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938528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8932" y="1399032"/>
            <a:ext cx="36576" cy="768096"/>
          </a:xfrm>
          <a:prstGeom prst="rect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89888"/>
            <a:ext cx="16276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713232" y="1609344"/>
            <a:ext cx="16276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0.860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2039112"/>
            <a:ext cx="16276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correctness</a:t>
            </a:r>
            <a:endParaRPr lang="en-US" sz="790" dirty="0"/>
          </a:p>
        </p:txBody>
      </p:sp>
      <p:sp>
        <p:nvSpPr>
          <p:cNvPr id="10" name="Shape 8"/>
          <p:cNvSpPr/>
          <p:nvPr/>
        </p:nvSpPr>
        <p:spPr>
          <a:xfrm>
            <a:off x="2852928" y="1234440"/>
            <a:ext cx="1938528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03220" y="1399032"/>
            <a:ext cx="36576" cy="768096"/>
          </a:xfrm>
          <a:prstGeom prst="rect">
            <a:avLst/>
          </a:prstGeom>
          <a:solidFill>
            <a:srgbClr val="8C7CFF"/>
          </a:solidFill>
          <a:ln w="12700">
            <a:solidFill>
              <a:srgbClr val="8C7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389888"/>
            <a:ext cx="16276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3017520" y="1609344"/>
            <a:ext cx="16276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0.419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17520" y="2039112"/>
            <a:ext cx="16276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of predicted subscribers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5157216" y="1234440"/>
            <a:ext cx="1938528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07508" y="1399032"/>
            <a:ext cx="36576" cy="768096"/>
          </a:xfrm>
          <a:prstGeom prst="rect">
            <a:avLst/>
          </a:prstGeom>
          <a:solidFill>
            <a:srgbClr val="F8C76B"/>
          </a:solidFill>
          <a:ln w="12700">
            <a:solidFill>
              <a:srgbClr val="F8C7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1389888"/>
            <a:ext cx="16276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5321808" y="1609344"/>
            <a:ext cx="16276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0.640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21808" y="2039112"/>
            <a:ext cx="16276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subscribers detected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7461504" y="1234440"/>
            <a:ext cx="1938528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11796" y="1399032"/>
            <a:ext cx="36576" cy="768096"/>
          </a:xfrm>
          <a:prstGeom prst="rect">
            <a:avLst/>
          </a:prstGeom>
          <a:solidFill>
            <a:srgbClr val="FF7B93"/>
          </a:solidFill>
          <a:ln w="12700">
            <a:solidFill>
              <a:srgbClr val="FF7B9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6096" y="1389888"/>
            <a:ext cx="16276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SCORE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626096" y="1609344"/>
            <a:ext cx="16276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26096" y="2039112"/>
            <a:ext cx="16276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precision/recall balance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9765792" y="1234440"/>
            <a:ext cx="1938528" cy="1115568"/>
          </a:xfrm>
          <a:prstGeom prst="roundRect">
            <a:avLst>
              <a:gd name="adj" fmla="val 6557"/>
            </a:avLst>
          </a:prstGeom>
          <a:solidFill>
            <a:srgbClr val="17233D"/>
          </a:solidFill>
          <a:ln w="10795">
            <a:solidFill>
              <a:srgbClr val="283650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16084" y="1399032"/>
            <a:ext cx="36576" cy="768096"/>
          </a:xfrm>
          <a:prstGeom prst="rect">
            <a:avLst/>
          </a:prstGeom>
          <a:solidFill>
            <a:srgbClr val="67B9EA"/>
          </a:solidFill>
          <a:ln w="12700">
            <a:solidFill>
              <a:srgbClr val="67B9E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30384" y="1389888"/>
            <a:ext cx="16276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9930384" y="1609344"/>
            <a:ext cx="16276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0.815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930384" y="2039112"/>
            <a:ext cx="16276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quality</a:t>
            </a:r>
            <a:endParaRPr lang="en-US" sz="79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868680" y="2944368"/>
          <a:ext cx="53035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6812280" y="3182112"/>
            <a:ext cx="50292" cy="50292"/>
          </a:xfrm>
          <a:prstGeom prst="ellipse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58584" y="3063240"/>
            <a:ext cx="4105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outputs probabilities, not only yes/no labels.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812280" y="3685032"/>
            <a:ext cx="50292" cy="50292"/>
          </a:xfrm>
          <a:prstGeom prst="ellipse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58584" y="3566160"/>
            <a:ext cx="4105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threshold can be adjusted based on campaign cost and capacity.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812280" y="4187952"/>
            <a:ext cx="50292" cy="50292"/>
          </a:xfrm>
          <a:prstGeom prst="ellipse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58584" y="4069080"/>
            <a:ext cx="4105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supports decisions; it does not guarantee a customer outcome.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85800" y="6364224"/>
            <a:ext cx="10835640" cy="0"/>
          </a:xfrm>
          <a:prstGeom prst="line">
            <a:avLst/>
          </a:prstGeom>
          <a:noFill/>
          <a:ln w="9525">
            <a:solidFill>
              <a:srgbClr val="28365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580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 · Bank Marketing ML Dashboard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1083564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0175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Interpretation &amp; Dashboard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41080" y="576072"/>
            <a:ext cx="2743200" cy="0"/>
          </a:xfrm>
          <a:prstGeom prst="line">
            <a:avLst/>
          </a:prstGeom>
          <a:noFill/>
          <a:ln w="38100">
            <a:solidFill>
              <a:srgbClr val="57D8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04672"/>
            <a:ext cx="10012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model output to an interactive decision tool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euribor3m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3246120" y="1380744"/>
            <a:ext cx="3337560" cy="100584"/>
          </a:xfrm>
          <a:prstGeom prst="rect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325880"/>
            <a:ext cx="502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0.170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1673352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nr.employed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246120" y="1728216"/>
            <a:ext cx="2532619" cy="100584"/>
          </a:xfrm>
          <a:prstGeom prst="rect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73352"/>
            <a:ext cx="502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0.129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22960" y="2020824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emp.var.rate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246120" y="2075688"/>
            <a:ext cx="2218496" cy="100584"/>
          </a:xfrm>
          <a:prstGeom prst="rect">
            <a:avLst/>
          </a:prstGeom>
          <a:solidFill>
            <a:srgbClr val="57D8BE"/>
          </a:solidFill>
          <a:ln w="12700">
            <a:solidFill>
              <a:srgbClr val="57D8B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020824"/>
            <a:ext cx="502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0.113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822960" y="2368296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cons.conf.idx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3246120" y="2423160"/>
            <a:ext cx="1295759" cy="100584"/>
          </a:xfrm>
          <a:prstGeom prst="rect">
            <a:avLst/>
          </a:prstGeom>
          <a:solidFill>
            <a:srgbClr val="8C7CFF"/>
          </a:solidFill>
          <a:ln w="12700">
            <a:solidFill>
              <a:srgbClr val="8C7C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368296"/>
            <a:ext cx="502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0.066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822960" y="2715768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pdays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3246120" y="2770632"/>
            <a:ext cx="981635" cy="100584"/>
          </a:xfrm>
          <a:prstGeom prst="rect">
            <a:avLst/>
          </a:prstGeom>
          <a:solidFill>
            <a:srgbClr val="8C7CFF"/>
          </a:solidFill>
          <a:ln w="12700">
            <a:solidFill>
              <a:srgbClr val="8C7C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0.050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22960" y="3063240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3246120" y="3118104"/>
            <a:ext cx="942370" cy="100584"/>
          </a:xfrm>
          <a:prstGeom prst="rect">
            <a:avLst/>
          </a:prstGeom>
          <a:solidFill>
            <a:srgbClr val="8C7CFF"/>
          </a:solidFill>
          <a:ln w="12700">
            <a:solidFill>
              <a:srgbClr val="8C7C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063240"/>
            <a:ext cx="502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0.048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822960" y="3410712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cons.price.idx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3246120" y="3465576"/>
            <a:ext cx="922737" cy="100584"/>
          </a:xfrm>
          <a:prstGeom prst="rect">
            <a:avLst/>
          </a:prstGeom>
          <a:solidFill>
            <a:srgbClr val="8C7CFF"/>
          </a:solidFill>
          <a:ln w="12700">
            <a:solidFill>
              <a:srgbClr val="8C7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410712"/>
            <a:ext cx="502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0.047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22960" y="3758184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poutcome · success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3246120" y="3813048"/>
            <a:ext cx="824574" cy="100584"/>
          </a:xfrm>
          <a:prstGeom prst="rect">
            <a:avLst/>
          </a:prstGeom>
          <a:solidFill>
            <a:srgbClr val="8C7CFF"/>
          </a:solidFill>
          <a:ln w="12700">
            <a:solidFill>
              <a:srgbClr val="8C7C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758184"/>
            <a:ext cx="502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0.042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22960" y="4343400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predictive features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960" y="4645152"/>
            <a:ext cx="5760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importance shows predictive association, not causation.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7543800" y="1234440"/>
            <a:ext cx="3520440" cy="859536"/>
          </a:xfrm>
          <a:prstGeom prst="roundRect">
            <a:avLst>
              <a:gd name="adj" fmla="val 8511"/>
            </a:avLst>
          </a:prstGeom>
          <a:solidFill>
            <a:srgbClr val="111A2E"/>
          </a:solidFill>
          <a:ln w="10795">
            <a:solidFill>
              <a:srgbClr val="57D8BE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44968" y="1399032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Center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7744968" y="1737360"/>
            <a:ext cx="31181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overview: dataset, positive rate, model, and ROC-AUC.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43800" y="2304288"/>
            <a:ext cx="3520440" cy="859536"/>
          </a:xfrm>
          <a:prstGeom prst="roundRect">
            <a:avLst>
              <a:gd name="adj" fmla="val 8511"/>
            </a:avLst>
          </a:prstGeom>
          <a:solidFill>
            <a:srgbClr val="111A2E"/>
          </a:solidFill>
          <a:ln w="10795">
            <a:solidFill>
              <a:srgbClr val="8C7CFF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44968" y="2468880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C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Explorer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7744968" y="2807208"/>
            <a:ext cx="31181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filters and charts for job, month, contact, and campaign patterns.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43800" y="3374136"/>
            <a:ext cx="3520440" cy="859536"/>
          </a:xfrm>
          <a:prstGeom prst="roundRect">
            <a:avLst>
              <a:gd name="adj" fmla="val 8511"/>
            </a:avLst>
          </a:prstGeom>
          <a:solidFill>
            <a:srgbClr val="111A2E"/>
          </a:solidFill>
          <a:ln w="10795">
            <a:solidFill>
              <a:srgbClr val="F8C76B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44968" y="3538728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8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Studio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7744968" y="3877056"/>
            <a:ext cx="31181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enters a customer profile and gets probability plus priority label.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43800" y="4443984"/>
            <a:ext cx="3520440" cy="859536"/>
          </a:xfrm>
          <a:prstGeom prst="roundRect">
            <a:avLst>
              <a:gd name="adj" fmla="val 8511"/>
            </a:avLst>
          </a:prstGeom>
          <a:solidFill>
            <a:srgbClr val="111A2E"/>
          </a:solidFill>
          <a:ln w="10795">
            <a:solidFill>
              <a:srgbClr val="FF7B93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44968" y="4608576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7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Card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7744968" y="4946904"/>
            <a:ext cx="31181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Metrics, methodology, leakage note, and model limitations.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" y="6364224"/>
            <a:ext cx="10835640" cy="0"/>
          </a:xfrm>
          <a:prstGeom prst="line">
            <a:avLst/>
          </a:prstGeom>
          <a:noFill/>
          <a:ln w="9525">
            <a:solidFill>
              <a:srgbClr val="2836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 · Bank Marketing ML Dashboard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083564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0175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Conclusion &amp; Discussion Points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41080" y="576072"/>
            <a:ext cx="2743200" cy="0"/>
          </a:xfrm>
          <a:prstGeom prst="line">
            <a:avLst/>
          </a:prstGeom>
          <a:noFill/>
          <a:ln w="38100">
            <a:solidFill>
              <a:srgbClr val="57D8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04672"/>
            <a:ext cx="10012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this final project complete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96112" y="1234440"/>
            <a:ext cx="24688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framing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3429000" y="1234440"/>
            <a:ext cx="7772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ranks customers by subscription likelihood, not just by a raw class label.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896112" y="1655064"/>
            <a:ext cx="10424160" cy="0"/>
          </a:xfrm>
          <a:prstGeom prst="line">
            <a:avLst/>
          </a:prstGeom>
          <a:noFill/>
          <a:ln w="10160">
            <a:solidFill>
              <a:srgbClr val="28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20240"/>
            <a:ext cx="24688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8C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 control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7772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 was excluded because it is not available before the call ends.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896112" y="2340864"/>
            <a:ext cx="10424160" cy="0"/>
          </a:xfrm>
          <a:prstGeom prst="line">
            <a:avLst/>
          </a:prstGeom>
          <a:noFill/>
          <a:ln w="10160">
            <a:solidFill>
              <a:srgbClr val="2836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606040"/>
            <a:ext cx="24688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8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evaluation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3429000" y="2606040"/>
            <a:ext cx="7772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Accuracy, Precision, Recall, F1-score, and ROC-AUC were used together.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96112" y="3026664"/>
            <a:ext cx="10424160" cy="0"/>
          </a:xfrm>
          <a:prstGeom prst="line">
            <a:avLst/>
          </a:prstGeom>
          <a:noFill/>
          <a:ln w="10160">
            <a:solidFill>
              <a:srgbClr val="283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291840"/>
            <a:ext cx="24688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7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readiness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3429000" y="3291840"/>
            <a:ext cx="7772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saved pipeline includes preprocessing and the model together.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896112" y="3712464"/>
            <a:ext cx="10424160" cy="0"/>
          </a:xfrm>
          <a:prstGeom prst="line">
            <a:avLst/>
          </a:prstGeom>
          <a:noFill/>
          <a:ln w="10160">
            <a:solidFill>
              <a:srgbClr val="2836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977640"/>
            <a:ext cx="24688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67B9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product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3429000" y="3977640"/>
            <a:ext cx="7772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EC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Streamlit dashboard translates predictions into a practical priority recommendation.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896112" y="4398264"/>
            <a:ext cx="10424160" cy="0"/>
          </a:xfrm>
          <a:prstGeom prst="line">
            <a:avLst/>
          </a:prstGeom>
          <a:noFill/>
          <a:ln w="10160">
            <a:solidFill>
              <a:srgbClr val="2836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5166360"/>
            <a:ext cx="10287000" cy="685800"/>
          </a:xfrm>
          <a:prstGeom prst="roundRect">
            <a:avLst>
              <a:gd name="adj" fmla="val 10667"/>
            </a:avLst>
          </a:prstGeom>
          <a:solidFill>
            <a:srgbClr val="111A2E"/>
          </a:solidFill>
          <a:ln w="10795">
            <a:solidFill>
              <a:srgbClr val="57D8BE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61288" y="5330952"/>
            <a:ext cx="9884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161288" y="5669280"/>
            <a:ext cx="9884664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combines data understanding, preprocessing, model comparison, evaluation, interpretation, and deployment into one end-to-end ML workflow.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6364224"/>
            <a:ext cx="10835640" cy="0"/>
          </a:xfrm>
          <a:prstGeom prst="line">
            <a:avLst/>
          </a:prstGeom>
          <a:noFill/>
          <a:ln w="9525">
            <a:solidFill>
              <a:srgbClr val="2836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CDSP Final Project · Bank Marketing ML Dashboard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083564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A6B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Epsilon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ML Dashboard</dc:title>
  <dc:subject>CDSP Final Project</dc:subject>
  <dc:creator>Lamia Farouk</dc:creator>
  <cp:lastModifiedBy>Lamia Farouk</cp:lastModifiedBy>
  <cp:revision>1</cp:revision>
  <dcterms:created xsi:type="dcterms:W3CDTF">2026-06-24T08:34:43Z</dcterms:created>
  <dcterms:modified xsi:type="dcterms:W3CDTF">2026-06-24T08:34:43Z</dcterms:modified>
</cp:coreProperties>
</file>